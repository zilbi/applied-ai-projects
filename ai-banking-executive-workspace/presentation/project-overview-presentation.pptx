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c3894e467e48bd" /><Relationship Type="http://schemas.openxmlformats.org/officeDocument/2006/relationships/extended-properties" Target="/docProps/app.xml" Id="R82019641b0a144f7" /><Relationship Type="http://schemas.openxmlformats.org/officeDocument/2006/relationships/officeDocument" Target="/ppt/presentation.xml" Id="R81623e77c6a3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4a2ab43ee42bc"/>
  </p:sldMasterIdLst>
  <p:notesMasterIdLst>
    <p:notesMasterId xmlns:r="http://schemas.openxmlformats.org/officeDocument/2006/relationships" r:id="R64228d639ae34fd1"/>
  </p:notesMasterIdLst>
  <p:sldIdLst>
    <p:sldId xmlns:r="http://schemas.openxmlformats.org/officeDocument/2006/relationships" id="256" r:id="R79024b54e0ad4a61"/>
    <p:sldId xmlns:r="http://schemas.openxmlformats.org/officeDocument/2006/relationships" id="257" r:id="R83ed94c2b2c4424d"/>
    <p:sldId xmlns:r="http://schemas.openxmlformats.org/officeDocument/2006/relationships" id="258" r:id="Rc162015b28d946f2"/>
    <p:sldId xmlns:r="http://schemas.openxmlformats.org/officeDocument/2006/relationships" id="259" r:id="R76afe59f7c9d4a81"/>
    <p:sldId xmlns:r="http://schemas.openxmlformats.org/officeDocument/2006/relationships" id="260" r:id="R107b878c07fb43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5047cd11d34083" /><Relationship Type="http://schemas.openxmlformats.org/officeDocument/2006/relationships/slideMaster" Target="/ppt/slideMasters/slideMaster1.xml" Id="R4db4a2ab43ee42bc" /><Relationship Type="http://schemas.openxmlformats.org/officeDocument/2006/relationships/notesMaster" Target="/ppt/notesMasters/notesMaster1.xml" Id="R64228d639ae34fd1" /><Relationship Type="http://schemas.openxmlformats.org/officeDocument/2006/relationships/presProps" Target="/ppt/presProps.xml" Id="R87a4e48b01d14bdc" /><Relationship Type="http://schemas.openxmlformats.org/officeDocument/2006/relationships/tableStyles" Target="/ppt/tableStyles.xml" Id="R822f5002559b49d4" /><Relationship Type="http://schemas.openxmlformats.org/officeDocument/2006/relationships/slide" Target="/ppt/slides/slide1.xml" Id="R79024b54e0ad4a61" /><Relationship Type="http://schemas.openxmlformats.org/officeDocument/2006/relationships/slide" Target="/ppt/slides/slide2.xml" Id="R83ed94c2b2c4424d" /><Relationship Type="http://schemas.openxmlformats.org/officeDocument/2006/relationships/slide" Target="/ppt/slides/slide3.xml" Id="Rc162015b28d946f2" /><Relationship Type="http://schemas.openxmlformats.org/officeDocument/2006/relationships/slide" Target="/ppt/slides/slide4.xml" Id="R76afe59f7c9d4a81" /><Relationship Type="http://schemas.openxmlformats.org/officeDocument/2006/relationships/slide" Target="/ppt/slides/slide5.xml" Id="R107b878c07fb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403bdedce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6a9f0ed39e474d" /><Relationship Type="http://schemas.openxmlformats.org/officeDocument/2006/relationships/notesMaster" Target="/ppt/notesMasters/notesMaster1.xml" Id="Rc04a107362d340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ca0b9febf4e72" /><Relationship Type="http://schemas.openxmlformats.org/officeDocument/2006/relationships/notesMaster" Target="/ppt/notesMasters/notesMaster1.xml" Id="R94e51d50a35d4c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bbc9f7e99a41a0" /><Relationship Type="http://schemas.openxmlformats.org/officeDocument/2006/relationships/notesMaster" Target="/ppt/notesMasters/notesMaster1.xml" Id="R2ef63522c137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903f5a2b2d448f" /><Relationship Type="http://schemas.openxmlformats.org/officeDocument/2006/relationships/notesMaster" Target="/ppt/notesMasters/notesMaster1.xml" Id="R56679831d6ec4a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85ad55732f4af4" /><Relationship Type="http://schemas.openxmlformats.org/officeDocument/2006/relationships/notesMaster" Target="/ppt/notesMasters/notesMaster1.xml" Id="Re1de5d6eb36640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 captured on 2026-08-30 using only synthetic demo data.</a:t>
            </a:r>
          </a:p>
          <a:p xmlns:a="http://schemas.openxmlformats.org/drawingml/2006/main">
            <a:r>
              <a:t>- Product screen: Portfolio overview.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 captured on 2026-08-30 using only synthetic demo data.</a:t>
            </a:r>
          </a:p>
          <a:p xmlns:a="http://schemas.openxmlformats.org/drawingml/2006/main">
            <a:r>
              <a:t>- Product screen: Client portfolio.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 captured on 2026-08-30 using only synthetic demo data.</a:t>
            </a:r>
          </a:p>
          <a:p xmlns:a="http://schemas.openxmlformats.org/drawingml/2006/main">
            <a:r>
              <a:t>- Product screen: Client 360.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 captured on 2026-08-30 using only synthetic demo data.</a:t>
            </a:r>
          </a:p>
          <a:p xmlns:a="http://schemas.openxmlformats.org/drawingml/2006/main">
            <a:r>
              <a:t>- Product screen: Execution workspace.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 captured on 2026-08-30 using only synthetic demo data.</a:t>
            </a:r>
          </a:p>
          <a:p xmlns:a="http://schemas.openxmlformats.org/drawingml/2006/main">
            <a:r>
              <a:t>- Product screen: AI-assisted oversight.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46ac0c93549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ef4bd961d41d2" /><Relationship Type="http://schemas.openxmlformats.org/officeDocument/2006/relationships/slideLayout" Target="/ppt/slideLayouts/slideLayout1.xml" Id="R74dc6b43cdbb47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c6b43cdbb47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dbc31c09a4a72" /><Relationship Type="http://schemas.openxmlformats.org/officeDocument/2006/relationships/image" Target="/ppt/media/image.png" Id="R368458e57f204f1a" /><Relationship Type="http://schemas.openxmlformats.org/officeDocument/2006/relationships/notesSlide" Target="/ppt/notesSlides/notesSlide1.xml" Id="Rdd97e9557c674b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a4d485b84445b" /><Relationship Type="http://schemas.openxmlformats.org/officeDocument/2006/relationships/image" Target="/ppt/media/image2.png" Id="Rbb05ab8e93b24c12" /><Relationship Type="http://schemas.openxmlformats.org/officeDocument/2006/relationships/notesSlide" Target="/ppt/notesSlides/notesSlide2.xml" Id="R7419648c66c448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f115a805248ea" /><Relationship Type="http://schemas.openxmlformats.org/officeDocument/2006/relationships/image" Target="/ppt/media/image3.png" Id="R0d9a43f243584918" /><Relationship Type="http://schemas.openxmlformats.org/officeDocument/2006/relationships/notesSlide" Target="/ppt/notesSlides/notesSlide3.xml" Id="Rcfc08cd3c9204c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5e68414664537" /><Relationship Type="http://schemas.openxmlformats.org/officeDocument/2006/relationships/image" Target="/ppt/media/image4.png" Id="R8e69c731186648d9" /><Relationship Type="http://schemas.openxmlformats.org/officeDocument/2006/relationships/notesSlide" Target="/ppt/notesSlides/notesSlide4.xml" Id="Rea524e38bcd849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2a58ce6e24f89" /><Relationship Type="http://schemas.openxmlformats.org/officeDocument/2006/relationships/image" Target="/ppt/media/image5.png" Id="R88773dde9d814492" /><Relationship Type="http://schemas.openxmlformats.org/officeDocument/2006/relationships/notesSlide" Target="/ppt/notesSlides/notesSlide5.xml" Id="R194cf43a94194e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458e57f204f1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ption-band">
            <a:extLst xmlns:a="http://schemas.openxmlformats.org/drawingml/2006/main">
              <a:ext uri="{FF2B5EF4-FFF2-40B4-BE49-F238E27FC236}">
                <a16:creationId xmlns:a16="http://schemas.microsoft.com/office/drawing/2014/main" id="{A17D9D78-F4E3-4C85-ACC0-CA794F8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ABC67379-4D1E-423A-AD5F-674062E3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D4FF"/>
                </a:solidFill>
              </a:defRPr>
            </a:pPr>
            <a:r>
              <a:rPr sz="1125" b="1">
                <a:solidFill>
                  <a:srgbClr val="00D4FF"/>
                </a:solidFill>
              </a:rPr>
              <a:t>PORTFOLIO OVERVIEW</a:t>
            </a:r>
          </a:p>
        </p:txBody>
      </p:sp>
      <p:sp>
        <p:nvSpPr>
          <p:cNvPr id="4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3B1C5332-D49D-4978-99B0-1C1BC5FC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2FB"/>
                </a:solidFill>
              </a:defRPr>
            </a:pPr>
            <a:r>
              <a:rPr sz="1275" b="0">
                <a:solidFill>
                  <a:srgbClr val="E7F2FB"/>
                </a:solidFill>
              </a:rPr>
              <a:t>Live portfolio signals, risk exposure, meetings and recommended next actions.</a:t>
            </a:r>
          </a:p>
        </p:txBody>
      </p:sp>
    </p:spTree>
    <p:extLst>
      <p:ext uri="{BB962C8B-B14F-4D97-AF65-F5344CB8AC3E}">
        <p14:creationId xmlns:p14="http://schemas.microsoft.com/office/powerpoint/2010/main" val="1850828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5ab8e93b24c1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ption-band">
            <a:extLst xmlns:a="http://schemas.openxmlformats.org/drawingml/2006/main">
              <a:ext uri="{FF2B5EF4-FFF2-40B4-BE49-F238E27FC236}">
                <a16:creationId xmlns:a16="http://schemas.microsoft.com/office/drawing/2014/main" id="{AA0F6D02-1CBF-4010-8C22-06B19598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AC956C29-B86B-4A8F-897B-DDA201BE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D4FF"/>
                </a:solidFill>
              </a:defRPr>
            </a:pPr>
            <a:r>
              <a:rPr sz="1125" b="1">
                <a:solidFill>
                  <a:srgbClr val="00D4FF"/>
                </a:solidFill>
              </a:rPr>
              <a:t>CLIENT PORTFOLIO</a:t>
            </a:r>
          </a:p>
        </p:txBody>
      </p:sp>
      <p:sp>
        <p:nvSpPr>
          <p:cNvPr id="4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BD62D991-1308-4E7B-AD4A-2B350026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2FB"/>
                </a:solidFill>
              </a:defRPr>
            </a:pPr>
            <a:r>
              <a:rPr sz="1275" b="0">
                <a:solidFill>
                  <a:srgbClr val="E7F2FB"/>
                </a:solidFill>
              </a:rPr>
              <a:t>Searchable client records with relationship status, health score and ownership context.</a:t>
            </a:r>
          </a:p>
        </p:txBody>
      </p:sp>
    </p:spTree>
    <p:extLst>
      <p:ext uri="{BB962C8B-B14F-4D97-AF65-F5344CB8AC3E}">
        <p14:creationId xmlns:p14="http://schemas.microsoft.com/office/powerpoint/2010/main" val="1015433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a43f2435849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ption-band">
            <a:extLst xmlns:a="http://schemas.openxmlformats.org/drawingml/2006/main">
              <a:ext uri="{FF2B5EF4-FFF2-40B4-BE49-F238E27FC236}">
                <a16:creationId xmlns:a16="http://schemas.microsoft.com/office/drawing/2014/main" id="{D4610047-4B98-407D-AD98-15965BE1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A497B1DE-6724-4558-B844-22D612F2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D4FF"/>
                </a:solidFill>
              </a:defRPr>
            </a:pPr>
            <a:r>
              <a:rPr sz="1125" b="1">
                <a:solidFill>
                  <a:srgbClr val="00D4FF"/>
                </a:solidFill>
              </a:rPr>
              <a:t>CLIENT 360</a:t>
            </a:r>
          </a:p>
        </p:txBody>
      </p:sp>
      <p:sp>
        <p:nvSpPr>
          <p:cNvPr id="4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567E7403-DDD3-48C4-B6B0-44FCFE73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2FB"/>
                </a:solidFill>
              </a:defRPr>
            </a:pPr>
            <a:r>
              <a:rPr sz="1275" b="0">
                <a:solidFill>
                  <a:srgbClr val="E7F2FB"/>
                </a:solidFill>
              </a:rPr>
              <a:t>One client record brings together profile, risk signals, projects, tasks and export actions.</a:t>
            </a:r>
          </a:p>
        </p:txBody>
      </p:sp>
    </p:spTree>
    <p:extLst>
      <p:ext uri="{BB962C8B-B14F-4D97-AF65-F5344CB8AC3E}">
        <p14:creationId xmlns:p14="http://schemas.microsoft.com/office/powerpoint/2010/main" val="1724472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9c731186648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ption-band">
            <a:extLst xmlns:a="http://schemas.openxmlformats.org/drawingml/2006/main">
              <a:ext uri="{FF2B5EF4-FFF2-40B4-BE49-F238E27FC236}">
                <a16:creationId xmlns:a16="http://schemas.microsoft.com/office/drawing/2014/main" id="{1193F2CD-AFD3-4E73-AE6A-2320EB0F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6D66BD2D-3F71-4276-9182-9BFA9037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D4FF"/>
                </a:solidFill>
              </a:defRPr>
            </a:pPr>
            <a:r>
              <a:rPr sz="1125" b="1">
                <a:solidFill>
                  <a:srgbClr val="00D4FF"/>
                </a:solidFill>
              </a:rPr>
              <a:t>EXECUTION WORKSPACE</a:t>
            </a:r>
          </a:p>
        </p:txBody>
      </p:sp>
      <p:sp>
        <p:nvSpPr>
          <p:cNvPr id="4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2A72FCB9-F72F-4E96-8744-D45B896A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2FB"/>
                </a:solidFill>
              </a:defRPr>
            </a:pPr>
            <a:r>
              <a:rPr sz="1275" b="0">
                <a:solidFill>
                  <a:srgbClr val="E7F2FB"/>
                </a:solidFill>
              </a:rPr>
              <a:t>Prioritised client tasks surface overdue work and make follow-up operational.</a:t>
            </a:r>
          </a:p>
        </p:txBody>
      </p:sp>
    </p:spTree>
    <p:extLst>
      <p:ext uri="{BB962C8B-B14F-4D97-AF65-F5344CB8AC3E}">
        <p14:creationId xmlns:p14="http://schemas.microsoft.com/office/powerpoint/2010/main" val="144245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73dde9d81449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ption-band">
            <a:extLst xmlns:a="http://schemas.openxmlformats.org/drawingml/2006/main">
              <a:ext uri="{FF2B5EF4-FFF2-40B4-BE49-F238E27FC236}">
                <a16:creationId xmlns:a16="http://schemas.microsoft.com/office/drawing/2014/main" id="{DFF7C8CB-6F0B-4CA0-A15A-B77CC31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0FA09C28-D250-4CBF-8A13-F8691592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D4FF"/>
                </a:solidFill>
              </a:defRPr>
            </a:pPr>
            <a:r>
              <a:rPr sz="1125" b="1">
                <a:solidFill>
                  <a:srgbClr val="00D4FF"/>
                </a:solidFill>
              </a:rPr>
              <a:t>AI-ASSISTED OVERSIGHT</a:t>
            </a:r>
          </a:p>
        </p:txBody>
      </p:sp>
      <p:sp>
        <p:nvSpPr>
          <p:cNvPr id="4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4D78A26E-07B6-40D3-A736-FA58A19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2FB"/>
                </a:solidFill>
              </a:defRPr>
            </a:pPr>
            <a:r>
              <a:rPr sz="1275" b="0">
                <a:solidFill>
                  <a:srgbClr val="E7F2FB"/>
                </a:solidFill>
              </a:rPr>
              <a:t>The dashboard combines deterministic portfolio monitoring with an AI action layer.</a:t>
            </a:r>
          </a:p>
        </p:txBody>
      </p:sp>
    </p:spTree>
    <p:extLst>
      <p:ext uri="{BB962C8B-B14F-4D97-AF65-F5344CB8AC3E}">
        <p14:creationId xmlns:p14="http://schemas.microsoft.com/office/powerpoint/2010/main" val="1182953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2026-08-30T20:37:32.5580000Z</dcterms:created>
  <dcterms:modified xsi:type="dcterms:W3CDTF">2026-08-30T20:37:32.5580000Z</dcterms:modified>
</coreProperties>
</file>