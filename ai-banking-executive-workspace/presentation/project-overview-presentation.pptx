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7e5ef5bf464b4b" /><Relationship Type="http://schemas.openxmlformats.org/officeDocument/2006/relationships/extended-properties" Target="/docProps/app.xml" Id="R8bafe487744f4171" /><Relationship Type="http://schemas.openxmlformats.org/officeDocument/2006/relationships/officeDocument" Target="/ppt/presentation.xml" Id="Rfe696e6586c144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72fbee6b504754"/>
  </p:sldMasterIdLst>
  <p:notesMasterIdLst>
    <p:notesMasterId xmlns:r="http://schemas.openxmlformats.org/officeDocument/2006/relationships" r:id="R1e5e760e313e4fe7"/>
  </p:notesMasterIdLst>
  <p:sldIdLst>
    <p:sldId xmlns:r="http://schemas.openxmlformats.org/officeDocument/2006/relationships" id="256" r:id="R63dd3ce6f0174bc5"/>
    <p:sldId xmlns:r="http://schemas.openxmlformats.org/officeDocument/2006/relationships" id="257" r:id="R12266436540c4c52"/>
    <p:sldId xmlns:r="http://schemas.openxmlformats.org/officeDocument/2006/relationships" id="258" r:id="R5f9ba423f5f54365"/>
    <p:sldId xmlns:r="http://schemas.openxmlformats.org/officeDocument/2006/relationships" id="259" r:id="Rd8602ab08ac94f02"/>
    <p:sldId xmlns:r="http://schemas.openxmlformats.org/officeDocument/2006/relationships" id="260" r:id="R6d58573e7f7144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061d7bd4594ca4" /><Relationship Type="http://schemas.openxmlformats.org/officeDocument/2006/relationships/slideMaster" Target="/ppt/slideMasters/slideMaster1.xml" Id="R4272fbee6b504754" /><Relationship Type="http://schemas.openxmlformats.org/officeDocument/2006/relationships/notesMaster" Target="/ppt/notesMasters/notesMaster1.xml" Id="R1e5e760e313e4fe7" /><Relationship Type="http://schemas.openxmlformats.org/officeDocument/2006/relationships/presProps" Target="/ppt/presProps.xml" Id="R669acdc8833543cb" /><Relationship Type="http://schemas.openxmlformats.org/officeDocument/2006/relationships/tableStyles" Target="/ppt/tableStyles.xml" Id="R0d92eddb328242bd" /><Relationship Type="http://schemas.openxmlformats.org/officeDocument/2006/relationships/slide" Target="/ppt/slides/slide1.xml" Id="R63dd3ce6f0174bc5" /><Relationship Type="http://schemas.openxmlformats.org/officeDocument/2006/relationships/slide" Target="/ppt/slides/slide2.xml" Id="R12266436540c4c52" /><Relationship Type="http://schemas.openxmlformats.org/officeDocument/2006/relationships/slide" Target="/ppt/slides/slide3.xml" Id="R5f9ba423f5f54365" /><Relationship Type="http://schemas.openxmlformats.org/officeDocument/2006/relationships/slide" Target="/ppt/slides/slide4.xml" Id="Rd8602ab08ac94f02" /><Relationship Type="http://schemas.openxmlformats.org/officeDocument/2006/relationships/slide" Target="/ppt/slides/slide5.xml" Id="R6d58573e7f7144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3eacff580b4d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6d8dea04884c6d" /><Relationship Type="http://schemas.openxmlformats.org/officeDocument/2006/relationships/notesMaster" Target="/ppt/notesMasters/notesMaster1.xml" Id="Rdbd82f90549441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ff4b34ae294f05" /><Relationship Type="http://schemas.openxmlformats.org/officeDocument/2006/relationships/notesMaster" Target="/ppt/notesMasters/notesMaster1.xml" Id="Rf84b4a865a1340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1e5ff1936646da" /><Relationship Type="http://schemas.openxmlformats.org/officeDocument/2006/relationships/notesMaster" Target="/ppt/notesMasters/notesMaster1.xml" Id="R387045b296bf44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f6d34025c74c40" /><Relationship Type="http://schemas.openxmlformats.org/officeDocument/2006/relationships/notesMaster" Target="/ppt/notesMasters/notesMaster1.xml" Id="Rba5a48ed867747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39b27371bc4a40" /><Relationship Type="http://schemas.openxmlformats.org/officeDocument/2006/relationships/notesMaster" Target="/ppt/notesMasters/notesMaster1.xml" Id="R0408d631c8e14d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README and source code.</a:t>
            </a:r>
          </a:p>
          <a:p xmlns:a="http://schemas.openxmlformats.org/drawingml/2006/main">
            <a:r>
              <a:t>- Concept visual generated for this preview; not a product screenshot.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README and source code.</a:t>
            </a:r>
          </a:p>
          <a:p xmlns:a="http://schemas.openxmlformats.org/drawingml/2006/main">
            <a:r>
              <a:t>- Local product screenshot captured on 2026-08-30 using only synthetic demo data.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README: portfolio analytics, deviation monitoring and explainable client risk scoring.</a:t>
            </a:r>
          </a:p>
          <a:p xmlns:a="http://schemas.openxmlformats.org/drawingml/2006/main">
            <a:r>
              <a:t>- Concept visual generated for this preview; it does not depict product data.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README and src/assistant/ plus src/voice_input.py.</a:t>
            </a:r>
          </a:p>
          <a:p xmlns:a="http://schemas.openxmlformats.org/drawingml/2006/main">
            <a:r>
              <a:t>- Concept visual generated for this preview; it does not show a real client meeting.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README and templates/ directory.</a:t>
            </a:r>
          </a:p>
          <a:p xmlns:a="http://schemas.openxmlformats.org/drawingml/2006/main">
            <a:r>
              <a:t>- Concept visual generated for this preview; it contains no client information.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a3961f1c94e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7de38629434dcf" /><Relationship Type="http://schemas.openxmlformats.org/officeDocument/2006/relationships/slideLayout" Target="/ppt/slideLayouts/slideLayout1.xml" Id="Rf84818a58c6d41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4818a58c6d41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287bbbb684aba" /><Relationship Type="http://schemas.openxmlformats.org/officeDocument/2006/relationships/image" Target="/ppt/media/image.png" Id="R8e8acb168b624c8f" /><Relationship Type="http://schemas.openxmlformats.org/officeDocument/2006/relationships/notesSlide" Target="/ppt/notesSlides/notesSlide1.xml" Id="Rccba8fe83a0f42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03827c5064a01" /><Relationship Type="http://schemas.openxmlformats.org/officeDocument/2006/relationships/image" Target="/ppt/media/image2.png" Id="Ra6e464194d254ebb" /><Relationship Type="http://schemas.openxmlformats.org/officeDocument/2006/relationships/image" Target="/ppt/media/image3.png" Id="R4367b2f51ae04921" /><Relationship Type="http://schemas.openxmlformats.org/officeDocument/2006/relationships/notesSlide" Target="/ppt/notesSlides/notesSlide2.xml" Id="R59019d02c78846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52215a4574932" /><Relationship Type="http://schemas.openxmlformats.org/officeDocument/2006/relationships/image" Target="/ppt/media/image4.png" Id="Ra48908ecf016405c" /><Relationship Type="http://schemas.openxmlformats.org/officeDocument/2006/relationships/notesSlide" Target="/ppt/notesSlides/notesSlide3.xml" Id="Rced4ae3e34a242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c72ffbcf64f50" /><Relationship Type="http://schemas.openxmlformats.org/officeDocument/2006/relationships/image" Target="/ppt/media/image5.png" Id="R68a5568427ad418b" /><Relationship Type="http://schemas.openxmlformats.org/officeDocument/2006/relationships/notesSlide" Target="/ppt/notesSlides/notesSlide4.xml" Id="Rb39b2468667e4f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aa99d8e5549f7" /><Relationship Type="http://schemas.openxmlformats.org/officeDocument/2006/relationships/image" Target="/ppt/media/image6.png" Id="R970118844dbf4768" /><Relationship Type="http://schemas.openxmlformats.org/officeDocument/2006/relationships/notesSlide" Target="/ppt/notesSlides/notesSlide5.xml" Id="R9f33c46ec1714e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6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acb168b624c8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D0941B5-4398-43B7-8C24-C50E0B88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00D4FF"/>
                </a:solidFill>
              </a:defRPr>
            </a:pPr>
            <a:r>
              <a:rPr sz="975" b="1" i="0">
                <a:solidFill>
                  <a:srgbClr val="00D4FF"/>
                </a:solidFill>
              </a:rPr>
              <a:t>PROJECT OVERVIEW</a:t>
            </a:r>
          </a:p>
        </p:txBody>
      </p:sp>
      <p:sp>
        <p:nvSpPr>
          <p:cNvPr id="3" name="cyan-rule">
            <a:extLst xmlns:a="http://schemas.openxmlformats.org/drawingml/2006/main">
              <a:ext uri="{FF2B5EF4-FFF2-40B4-BE49-F238E27FC236}">
                <a16:creationId xmlns:a16="http://schemas.microsoft.com/office/drawing/2014/main" id="{3418EC97-5029-428B-AF0C-EE270B27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D4F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EB9D89-B77E-4DAB-B106-7086E8A0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238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900" b="1" i="0">
                <a:solidFill>
                  <a:srgbClr val="FFFFFF"/>
                </a:solidFill>
              </a:defRPr>
            </a:pPr>
            <a:r>
              <a:rPr sz="3900" b="1" i="0">
                <a:solidFill>
                  <a:srgbClr val="FFFFFF"/>
                </a:solidFill>
              </a:rPr>
              <a:t>AI-Powered</a:t>
            </a:r>
          </a:p>
          <a:p xmlns:a="http://schemas.openxmlformats.org/drawingml/2006/main">
            <a:pPr>
              <a:defRPr sz="3900" b="1" i="0">
                <a:solidFill>
                  <a:srgbClr val="FFFFFF"/>
                </a:solidFill>
              </a:defRPr>
            </a:pPr>
            <a:r>
              <a:rPr sz="3900" b="1" i="0">
                <a:solidFill>
                  <a:srgbClr val="FFFFFF"/>
                </a:solidFill>
              </a:rPr>
              <a:t>Banking Executive</a:t>
            </a:r>
          </a:p>
          <a:p xmlns:a="http://schemas.openxmlformats.org/drawingml/2006/main">
            <a:pPr>
              <a:defRPr sz="3900" b="1" i="0">
                <a:solidFill>
                  <a:srgbClr val="FFFFFF"/>
                </a:solidFill>
              </a:defRPr>
            </a:pPr>
            <a:r>
              <a:rPr sz="3900" b="1" i="0">
                <a:solidFill>
                  <a:srgbClr val="FFFFFF"/>
                </a:solidFill>
              </a:rPr>
              <a:t>Workspace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2AE9CC62-2B83-4E9B-B854-60473076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C7D5E5"/>
                </a:solidFill>
              </a:defRPr>
            </a:pPr>
            <a:r>
              <a:rPr sz="1800" b="0" i="0">
                <a:solidFill>
                  <a:srgbClr val="C7D5E5"/>
                </a:solidFill>
              </a:rPr>
              <a:t>A local workspace for portfolio oversight, risk monitoring and executive decision support.</a:t>
            </a:r>
          </a:p>
        </p:txBody>
      </p:sp>
      <p:sp>
        <p:nvSpPr>
          <p:cNvPr id="6" name="thesis-frame">
            <a:extLst xmlns:a="http://schemas.openxmlformats.org/drawingml/2006/main">
              <a:ext uri="{FF2B5EF4-FFF2-40B4-BE49-F238E27FC236}">
                <a16:creationId xmlns:a16="http://schemas.microsoft.com/office/drawing/2014/main" id="{CCEA8A97-6647-4885-B0C9-0AE5AA57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095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6334A"/>
          </a:solidFill>
          <a:ln xmlns:a="http://schemas.openxmlformats.org/drawingml/2006/main" w="9525">
            <a:solidFill>
              <a:srgbClr val="00D4FF"/>
            </a:solidFill>
            <a:prstDash val="solid"/>
          </a:ln>
        </p:spPr>
      </p:sp>
      <p:sp>
        <p:nvSpPr>
          <p:cNvPr id="7" name="thesis">
            <a:extLst xmlns:a="http://schemas.openxmlformats.org/drawingml/2006/main">
              <a:ext uri="{FF2B5EF4-FFF2-40B4-BE49-F238E27FC236}">
                <a16:creationId xmlns:a16="http://schemas.microsoft.com/office/drawing/2014/main" id="{301000A4-9C33-4288-8994-A496CEBD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3667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FF6FF"/>
                </a:solidFill>
              </a:defRPr>
            </a:pPr>
            <a:r>
              <a:rPr sz="1275" b="1" i="0">
                <a:solidFill>
                  <a:srgbClr val="CFF6FF"/>
                </a:solidFill>
              </a:rPr>
              <a:t>Portfolio signals, daily operations and AI assistance — in one place.</a:t>
            </a:r>
          </a:p>
        </p:txBody>
      </p:sp>
    </p:spTree>
    <p:extLst>
      <p:ext uri="{BB962C8B-B14F-4D97-AF65-F5344CB8AC3E}">
        <p14:creationId xmlns:p14="http://schemas.microsoft.com/office/powerpoint/2010/main" val="18508286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6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464194d254eb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E1349A4-FFD2-42F4-AFF6-CF449936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00D4FF"/>
                </a:solidFill>
              </a:defRPr>
            </a:pPr>
            <a:r>
              <a:rPr sz="975" b="1" i="0">
                <a:solidFill>
                  <a:srgbClr val="00D4FF"/>
                </a:solidFill>
              </a:rPr>
              <a:t>ONE OPERATIONAL PICTURE</a:t>
            </a:r>
          </a:p>
        </p:txBody>
      </p:sp>
      <p:sp>
        <p:nvSpPr>
          <p:cNvPr id="3" name="cyan-rule">
            <a:extLst xmlns:a="http://schemas.openxmlformats.org/drawingml/2006/main">
              <a:ext uri="{FF2B5EF4-FFF2-40B4-BE49-F238E27FC236}">
                <a16:creationId xmlns:a16="http://schemas.microsoft.com/office/drawing/2014/main" id="{C7BCBAE6-AAD2-4D18-8BA2-3346D466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D4FF"/>
            </a:solidFill>
            <a:prstDash val="solid"/>
          </a:ln>
        </p:spPr>
      </p:sp>
      <p:sp>
        <p:nvSpPr>
          <p:cNvPr id="4" name="headline">
            <a:extLst xmlns:a="http://schemas.openxmlformats.org/drawingml/2006/main">
              <a:ext uri="{FF2B5EF4-FFF2-40B4-BE49-F238E27FC236}">
                <a16:creationId xmlns:a16="http://schemas.microsoft.com/office/drawing/2014/main" id="{E351C10C-6ACD-4966-94EC-95074E79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4762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A single workspace</a:t>
            </a:r>
          </a:p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for portfolio oversight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C57CCB0-535E-4F71-8546-EACD3EC1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4324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C7D5E5"/>
                </a:solidFill>
              </a:defRPr>
            </a:pPr>
            <a:r>
              <a:rPr sz="1650" b="0" i="0">
                <a:solidFill>
                  <a:srgbClr val="C7D5E5"/>
                </a:solidFill>
              </a:rPr>
              <a:t>Client records, deals, projects, tasks and meetings are brought together for a practical executive view.</a:t>
            </a:r>
          </a:p>
        </p:txBody>
      </p:sp>
      <p:sp>
        <p:nvSpPr>
          <p:cNvPr id="6" name="features">
            <a:extLst xmlns:a="http://schemas.openxmlformats.org/drawingml/2006/main">
              <a:ext uri="{FF2B5EF4-FFF2-40B4-BE49-F238E27FC236}">
                <a16:creationId xmlns:a16="http://schemas.microsoft.com/office/drawing/2014/main" id="{9ADEFDC3-9C36-4685-A862-82D6E2F0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429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role-based workspaces</a:t>
            </a:r>
          </a:p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portfolio analytics and deviations</a:t>
            </a:r>
          </a:p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client, deal and meeting management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7b2f51ae04921"/>
          <a:srcRect xmlns:a="http://schemas.openxmlformats.org/drawingml/2006/main" l="0" t="74" r="0" b="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1504950"/>
            <a:ext cx="4705350" cy="3009900"/>
          </a:xfrm>
          <a:prstGeom xmlns:a="http://schemas.openxmlformats.org/drawingml/2006/main" prst="roundRect">
            <a:avLst>
              <a:gd name="adj" fmla="val 3797"/>
            </a:avLst>
          </a:prstGeom>
        </p:spPr>
      </p:pic>
      <p:sp>
        <p:nvSpPr>
          <p:cNvPr id="8" name="screenshot-caption">
            <a:extLst xmlns:a="http://schemas.openxmlformats.org/drawingml/2006/main">
              <a:ext uri="{FF2B5EF4-FFF2-40B4-BE49-F238E27FC236}">
                <a16:creationId xmlns:a16="http://schemas.microsoft.com/office/drawing/2014/main" id="{F378EAB5-F1AE-4522-8AB7-632F44E9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197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0" i="1">
                <a:solidFill>
                  <a:srgbClr val="A9C5D6"/>
                </a:solidFill>
              </a:defRPr>
            </a:pPr>
            <a:r>
              <a:rPr sz="1050" b="0" i="1">
                <a:solidFill>
                  <a:srgbClr val="A9C5D6"/>
                </a:solidFill>
              </a:rPr>
              <a:t>Local product screenshot — synthetic demo data</a:t>
            </a:r>
          </a:p>
        </p:txBody>
      </p:sp>
    </p:spTree>
    <p:extLst>
      <p:ext uri="{BB962C8B-B14F-4D97-AF65-F5344CB8AC3E}">
        <p14:creationId xmlns:p14="http://schemas.microsoft.com/office/powerpoint/2010/main" val="10154331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6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908ecf016405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D856897-AFC9-4425-B761-BD1AE507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00D4FF"/>
                </a:solidFill>
              </a:defRPr>
            </a:pPr>
            <a:r>
              <a:rPr sz="975" b="1" i="0">
                <a:solidFill>
                  <a:srgbClr val="00D4FF"/>
                </a:solidFill>
              </a:rPr>
              <a:t>RISK MONITORING</a:t>
            </a:r>
          </a:p>
        </p:txBody>
      </p:sp>
      <p:sp>
        <p:nvSpPr>
          <p:cNvPr id="3" name="cyan-rule">
            <a:extLst xmlns:a="http://schemas.openxmlformats.org/drawingml/2006/main">
              <a:ext uri="{FF2B5EF4-FFF2-40B4-BE49-F238E27FC236}">
                <a16:creationId xmlns:a16="http://schemas.microsoft.com/office/drawing/2014/main" id="{F369E6E1-50C2-4CF2-97C5-498944EB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D4FF"/>
            </a:solidFill>
            <a:prstDash val="solid"/>
          </a:ln>
        </p:spPr>
      </p:sp>
      <p:sp>
        <p:nvSpPr>
          <p:cNvPr id="4" name="headline">
            <a:extLst xmlns:a="http://schemas.openxmlformats.org/drawingml/2006/main">
              <a:ext uri="{FF2B5EF4-FFF2-40B4-BE49-F238E27FC236}">
                <a16:creationId xmlns:a16="http://schemas.microsoft.com/office/drawing/2014/main" id="{76523E07-C5FC-4FF9-B955-BFAFBD5F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Signals are translated</a:t>
            </a:r>
          </a:p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into next actions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056450D-AEF3-4097-86F2-DA61C967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429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C7D5E5"/>
                </a:solidFill>
              </a:defRPr>
            </a:pPr>
            <a:r>
              <a:rPr sz="1650" b="0" i="0">
                <a:solidFill>
                  <a:srgbClr val="C7D5E5"/>
                </a:solidFill>
              </a:rPr>
              <a:t>The workspace combines portfolio analytics with explainable client-risk scoring and recommended actions.</a:t>
            </a:r>
          </a:p>
        </p:txBody>
      </p:sp>
      <p:sp>
        <p:nvSpPr>
          <p:cNvPr id="6" name="signal-box">
            <a:extLst xmlns:a="http://schemas.openxmlformats.org/drawingml/2006/main">
              <a:ext uri="{FF2B5EF4-FFF2-40B4-BE49-F238E27FC236}">
                <a16:creationId xmlns:a16="http://schemas.microsoft.com/office/drawing/2014/main" id="{1C7E1890-BC0F-4ACF-AE01-305F1915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381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072C40"/>
          </a:solidFill>
          <a:ln xmlns:a="http://schemas.openxmlformats.org/drawingml/2006/main" w="9525">
            <a:solidFill>
              <a:srgbClr val="00D4FF"/>
            </a:solidFill>
            <a:prstDash val="solid"/>
          </a:ln>
        </p:spPr>
      </p:sp>
      <p:sp>
        <p:nvSpPr>
          <p:cNvPr id="7" name="signal-copy">
            <a:extLst xmlns:a="http://schemas.openxmlformats.org/drawingml/2006/main">
              <a:ext uri="{FF2B5EF4-FFF2-40B4-BE49-F238E27FC236}">
                <a16:creationId xmlns:a16="http://schemas.microsoft.com/office/drawing/2014/main" id="{8447FD9F-3A8B-4971-8F85-3CAE2E57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81500"/>
            <a:ext cx="3476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D5FAFF"/>
                </a:solidFill>
              </a:defRPr>
            </a:pPr>
            <a:r>
              <a:rPr sz="1500" b="1" i="0">
                <a:solidFill>
                  <a:srgbClr val="D5FAFF"/>
                </a:solidFill>
              </a:rPr>
              <a:t>Deviation monitoring</a:t>
            </a:r>
          </a:p>
          <a:p xmlns:a="http://schemas.openxmlformats.org/drawingml/2006/main">
            <a:pPr>
              <a:defRPr sz="1500" b="1" i="0">
                <a:solidFill>
                  <a:srgbClr val="D5FAFF"/>
                </a:solidFill>
              </a:defRPr>
            </a:pPr>
            <a:r>
              <a:rPr sz="1500" b="1" i="0">
                <a:solidFill>
                  <a:srgbClr val="D5FAFF"/>
                </a:solidFill>
              </a:rPr>
              <a:t>Risk scoring</a:t>
            </a:r>
          </a:p>
          <a:p xmlns:a="http://schemas.openxmlformats.org/drawingml/2006/main">
            <a:pPr>
              <a:defRPr sz="1500" b="1" i="0">
                <a:solidFill>
                  <a:srgbClr val="D5FAFF"/>
                </a:solidFill>
              </a:defRPr>
            </a:pPr>
            <a:r>
              <a:rPr sz="1500" b="1" i="0">
                <a:solidFill>
                  <a:srgbClr val="D5FAFF"/>
                </a:solidFill>
              </a:rPr>
              <a:t>Recommended follow-up</a:t>
            </a:r>
          </a:p>
        </p:txBody>
      </p:sp>
    </p:spTree>
    <p:extLst>
      <p:ext uri="{BB962C8B-B14F-4D97-AF65-F5344CB8AC3E}">
        <p14:creationId xmlns:p14="http://schemas.microsoft.com/office/powerpoint/2010/main" val="17244726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6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5568427ad418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4936D6B-4813-4C16-BA96-7A621C0C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00D4FF"/>
                </a:solidFill>
              </a:defRPr>
            </a:pPr>
            <a:r>
              <a:rPr sz="975" b="1" i="0">
                <a:solidFill>
                  <a:srgbClr val="00D4FF"/>
                </a:solidFill>
              </a:rPr>
              <a:t>AI ASSISTANCE</a:t>
            </a:r>
          </a:p>
        </p:txBody>
      </p:sp>
      <p:sp>
        <p:nvSpPr>
          <p:cNvPr id="3" name="cyan-rule">
            <a:extLst xmlns:a="http://schemas.openxmlformats.org/drawingml/2006/main">
              <a:ext uri="{FF2B5EF4-FFF2-40B4-BE49-F238E27FC236}">
                <a16:creationId xmlns:a16="http://schemas.microsoft.com/office/drawing/2014/main" id="{F5E23BF3-5D87-45AE-82AD-CFF5E54F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D4FF"/>
            </a:solidFill>
            <a:prstDash val="solid"/>
          </a:ln>
        </p:spPr>
      </p:sp>
      <p:sp>
        <p:nvSpPr>
          <p:cNvPr id="4" name="headline">
            <a:extLst xmlns:a="http://schemas.openxmlformats.org/drawingml/2006/main">
              <a:ext uri="{FF2B5EF4-FFF2-40B4-BE49-F238E27FC236}">
                <a16:creationId xmlns:a16="http://schemas.microsoft.com/office/drawing/2014/main" id="{C275E939-B35B-4328-902D-DADBC16C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048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AI support grounded</a:t>
            </a:r>
          </a:p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in portfolio context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B455EB1-EAEE-4A4B-80F2-E04533BA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524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C7D5E5"/>
                </a:solidFill>
              </a:defRPr>
            </a:pPr>
            <a:r>
              <a:rPr sz="1650" b="0" i="0">
                <a:solidFill>
                  <a:srgbClr val="C7D5E5"/>
                </a:solidFill>
              </a:rPr>
              <a:t>The assistant routes questions through local portfolio information, while voice input supports hands-free work.</a:t>
            </a:r>
          </a:p>
        </p:txBody>
      </p:sp>
      <p:sp>
        <p:nvSpPr>
          <p:cNvPr id="6" name="callout">
            <a:extLst xmlns:a="http://schemas.openxmlformats.org/drawingml/2006/main">
              <a:ext uri="{FF2B5EF4-FFF2-40B4-BE49-F238E27FC236}">
                <a16:creationId xmlns:a16="http://schemas.microsoft.com/office/drawing/2014/main" id="{9E65791F-82B3-424E-A1D5-6CA5DBFC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238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Ask about priorities, risks, meetings or performance — with context from the workspace.</a:t>
            </a:r>
          </a:p>
        </p:txBody>
      </p:sp>
    </p:spTree>
    <p:extLst>
      <p:ext uri="{BB962C8B-B14F-4D97-AF65-F5344CB8AC3E}">
        <p14:creationId xmlns:p14="http://schemas.microsoft.com/office/powerpoint/2010/main" val="144245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6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118844dbf476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8960BF1-3080-4F3D-B89E-6DE8CB87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00D4FF"/>
                </a:solidFill>
              </a:defRPr>
            </a:pPr>
            <a:r>
              <a:rPr sz="975" b="1" i="0">
                <a:solidFill>
                  <a:srgbClr val="00D4FF"/>
                </a:solidFill>
              </a:rPr>
              <a:t>DAILY OUTPUTS</a:t>
            </a:r>
          </a:p>
        </p:txBody>
      </p:sp>
      <p:sp>
        <p:nvSpPr>
          <p:cNvPr id="3" name="cyan-rule">
            <a:extLst xmlns:a="http://schemas.openxmlformats.org/drawingml/2006/main">
              <a:ext uri="{FF2B5EF4-FFF2-40B4-BE49-F238E27FC236}">
                <a16:creationId xmlns:a16="http://schemas.microsoft.com/office/drawing/2014/main" id="{9E28935E-E3C8-47CC-B51D-490EE2E8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8382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D4FF"/>
            </a:solidFill>
            <a:prstDash val="solid"/>
          </a:ln>
        </p:spPr>
      </p:sp>
      <p:sp>
        <p:nvSpPr>
          <p:cNvPr id="4" name="headline">
            <a:extLst xmlns:a="http://schemas.openxmlformats.org/drawingml/2006/main">
              <a:ext uri="{FF2B5EF4-FFF2-40B4-BE49-F238E27FC236}">
                <a16:creationId xmlns:a16="http://schemas.microsoft.com/office/drawing/2014/main" id="{1B5966F5-6CD3-4008-B8E0-1AF969AD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219200"/>
            <a:ext cx="3714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A repeatable</a:t>
            </a:r>
          </a:p>
          <a:p xmlns:a="http://schemas.openxmlformats.org/drawingml/2006/main">
            <a:pPr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executive routine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511DD42-5B45-474E-83CA-E383B3F9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81300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C7D5E5"/>
                </a:solidFill>
              </a:defRPr>
            </a:pPr>
            <a:r>
              <a:rPr sz="1650" b="0" i="0">
                <a:solidFill>
                  <a:srgbClr val="C7D5E5"/>
                </a:solidFill>
              </a:rPr>
              <a:t>The project creates practical work products that turn portfolio context into preparation and follow-through.</a:t>
            </a:r>
          </a:p>
        </p:txBody>
      </p:sp>
      <p:sp>
        <p:nvSpPr>
          <p:cNvPr id="6" name="outputs">
            <a:extLst xmlns:a="http://schemas.openxmlformats.org/drawingml/2006/main">
              <a:ext uri="{FF2B5EF4-FFF2-40B4-BE49-F238E27FC236}">
                <a16:creationId xmlns:a16="http://schemas.microsoft.com/office/drawing/2014/main" id="{974F68DC-660E-467C-989B-048985D3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67200"/>
            <a:ext cx="3524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daily digest</a:t>
            </a:r>
          </a:p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meeting brief</a:t>
            </a:r>
          </a:p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one-page client summary</a:t>
            </a:r>
          </a:p>
          <a:p xmlns:a="http://schemas.openxmlformats.org/drawingml/2006/main">
            <a:pPr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• exportable client report</a:t>
            </a:r>
          </a:p>
        </p:txBody>
      </p:sp>
    </p:spTree>
    <p:extLst>
      <p:ext uri="{BB962C8B-B14F-4D97-AF65-F5344CB8AC3E}">
        <p14:creationId xmlns:p14="http://schemas.microsoft.com/office/powerpoint/2010/main" val="11829535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2026-08-30T17:28:28.3450000Z</dcterms:created>
  <dcterms:modified xsi:type="dcterms:W3CDTF">2026-08-30T17:28:28.3450000Z</dcterms:modified>
</coreProperties>
</file>